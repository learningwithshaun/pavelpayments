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  <p:sldId id="262" r:id="rId10"/>
  </p:sldIdLst>
  <p:sldSz cx="9144000" cy="5143500" type="screen16x9"/>
  <p:notesSz cx="6858000" cy="9144000"/>
  <p:embeddedFontLst>
    <p:embeddedFont>
      <p:font typeface="Helvetica Neue" panose="020B0604020202020204" charset="0"/>
      <p:regular r:id="rId12"/>
      <p:bold r:id="rId13"/>
      <p:italic r:id="rId14"/>
      <p:boldItalic r:id="rId15"/>
    </p:embeddedFont>
    <p:embeddedFont>
      <p:font typeface="Libre Franklin" pitchFamily="2" charset="0"/>
      <p:regular r:id="rId16"/>
      <p:bold r:id="rId17"/>
      <p:italic r:id="rId18"/>
      <p:boldItalic r:id="rId19"/>
    </p:embeddedFont>
    <p:embeddedFont>
      <p:font typeface="Titillium Web" panose="00000500000000000000" pitchFamily="2" charset="0"/>
      <p:regular r:id="rId20"/>
      <p:bold r:id="rId21"/>
      <p:italic r:id="rId22"/>
      <p:boldItalic r:id="rId23"/>
    </p:embeddedFont>
    <p:embeddedFont>
      <p:font typeface="Titillium Web Light" panose="00000400000000000000" pitchFamily="2" charset="0"/>
      <p:regular r:id="rId24"/>
      <p:italic r:id="rId25"/>
    </p:embeddedFont>
    <p:embeddedFont>
      <p:font typeface="Titillium Web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1E5964-C148-F65E-DEAE-672214AFE4AC}" v="1611" dt="2026-06-26T16:26:15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56" name="Google Shape;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03A032A4-D30D-BE5B-CB22-A639829E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>
            <a:extLst>
              <a:ext uri="{FF2B5EF4-FFF2-40B4-BE49-F238E27FC236}">
                <a16:creationId xmlns:a16="http://schemas.microsoft.com/office/drawing/2014/main" id="{808671E1-9BF6-5E20-7D4D-F11CD9705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3A5992F0-DFC0-DF17-9B84-C803401CE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067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CE19343E-B563-0014-082C-4BB8BF86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>
            <a:extLst>
              <a:ext uri="{FF2B5EF4-FFF2-40B4-BE49-F238E27FC236}">
                <a16:creationId xmlns:a16="http://schemas.microsoft.com/office/drawing/2014/main" id="{BEF3ED35-4F9A-8C5E-E025-076787552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4:notes">
            <a:extLst>
              <a:ext uri="{FF2B5EF4-FFF2-40B4-BE49-F238E27FC236}">
                <a16:creationId xmlns:a16="http://schemas.microsoft.com/office/drawing/2014/main" id="{DE785049-9C76-474F-3965-D960FC7DE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7347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" name="Google Shape;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(phone)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image-1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8225" y="691999"/>
            <a:ext cx="3759524" cy="375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light texture A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</a:t>
            </a:r>
            <a:r>
              <a:rPr lang="en" sz="1200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#OpenPayments</a:t>
            </a:r>
            <a:endParaRPr sz="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</a:t>
            </a:r>
            <a:r>
              <a:rPr lang="en" b="1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ILPHacks</a:t>
            </a:r>
            <a:endParaRPr sz="1400" b="1" i="0" u="none" strike="noStrike" cap="non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0" name="Google Shape;20;p3" title="image-1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90700" y="4173187"/>
            <a:ext cx="1308725" cy="98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 (phone) 1">
  <p:cSld name="TITLE_AND_BODY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dark gradient">
  <p:cSld name="CUSTOM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no background B">
  <p:cSld name="CUSTOM_4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sz="18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sz="1400" b="0" i="0" u="none" strike="noStrike" cap="non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6470275" y="2556825"/>
            <a:ext cx="1463100" cy="219600"/>
          </a:xfrm>
          <a:prstGeom prst="rect">
            <a:avLst/>
          </a:prstGeom>
          <a:solidFill>
            <a:srgbClr val="0F04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 b="1" i="0" u="none" strike="noStrike" cap="none">
                <a:solidFill>
                  <a:srgbClr val="E69138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PAYMENTS</a:t>
            </a:r>
            <a:endParaRPr sz="1200" b="1" i="0" u="none" strike="noStrike" cap="none">
              <a:solidFill>
                <a:srgbClr val="E6913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5" name="Google Shape;35;p7"/>
          <p:cNvSpPr txBox="1"/>
          <p:nvPr/>
        </p:nvSpPr>
        <p:spPr>
          <a:xfrm>
            <a:off x="329184" y="1719072"/>
            <a:ext cx="4958871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1100"/>
            </a:pPr>
            <a:r>
              <a:rPr lang="en" sz="3500" b="1" dirty="0">
                <a:solidFill>
                  <a:srgbClr val="EEFF41"/>
                </a:solidFill>
                <a:latin typeface="Titillium Web"/>
                <a:ea typeface="Titillium Web"/>
                <a:cs typeface="Titillium Web"/>
                <a:sym typeface="Titillium Web"/>
              </a:rPr>
              <a:t>PAVEL_7</a:t>
            </a:r>
            <a:endParaRPr lang="en-US" sz="3300" b="1" dirty="0">
              <a:solidFill>
                <a:srgbClr val="00FFFF"/>
              </a:solidFill>
              <a:latin typeface="Titillium Web"/>
              <a:ea typeface="Titillium Web"/>
              <a:cs typeface="Titillium Web"/>
              <a:sym typeface="Titillium Web SemiBold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en" sz="3000" b="0" i="0" u="none" strike="noStrike" cap="none" dirty="0">
                <a:solidFill>
                  <a:srgbClr val="00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Hackathon 2026</a:t>
            </a:r>
            <a:endParaRPr lang="en-US" sz="3300" b="1" i="0" u="none" strike="noStrike" cap="none" dirty="0">
              <a:solidFill>
                <a:srgbClr val="00FFFF"/>
              </a:solidFill>
              <a:latin typeface="Titillium Web"/>
              <a:ea typeface="Titillium Web SemiBold"/>
              <a:cs typeface="Titillium Web SemiBold"/>
            </a:endParaRPr>
          </a:p>
          <a:p>
            <a:pPr>
              <a:buSzPts val="1100"/>
            </a:pPr>
            <a:endParaRPr lang="en" sz="3000" dirty="0">
              <a:solidFill>
                <a:srgbClr val="00FFFF"/>
              </a:solidFill>
              <a:latin typeface="Titillium Web SemiBold"/>
              <a:ea typeface="Titillium Web"/>
              <a:cs typeface="Titillium Web"/>
            </a:endParaRPr>
          </a:p>
          <a:p>
            <a:pPr>
              <a:buSzPts val="1100"/>
            </a:pPr>
            <a:r>
              <a:rPr lang="en" sz="2000" dirty="0">
                <a:solidFill>
                  <a:srgbClr val="00FFFF"/>
                </a:solidFill>
                <a:latin typeface="Titillium Web SemiBold"/>
                <a:ea typeface="Titillium Web"/>
                <a:cs typeface="Titillium Web"/>
              </a:rPr>
              <a:t>"Pay As You Use"</a:t>
            </a:r>
          </a:p>
        </p:txBody>
      </p:sp>
      <p:pic>
        <p:nvPicPr>
          <p:cNvPr id="36" name="Google Shape;36;p7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4150" y="380476"/>
            <a:ext cx="1783537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Meet the team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405300" y="2029883"/>
            <a:ext cx="4620900" cy="213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600" b="1" i="0" u="none" strike="noStrike" cap="none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" sz="1600" b="1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PavelPayments</a:t>
            </a:r>
            <a:endParaRPr lang="en-US" sz="1600" b="1" i="0" u="none" strike="noStrike" cap="none" dirty="0" err="1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Vhutali</a:t>
            </a: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 </a:t>
            </a:r>
            <a:r>
              <a:rPr lang="en" sz="1600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Tsanwani</a:t>
            </a:r>
            <a:endParaRPr lang="en"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Erico Mutonkole</a:t>
            </a:r>
            <a:endParaRPr lang="en"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Lisakhanya Tshokolo</a:t>
            </a:r>
            <a:endParaRPr lang="en"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Amanda Msutu</a:t>
            </a:r>
            <a:endParaRPr lang="en" sz="1600" b="0" i="0" u="none" strike="noStrike" cap="none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Noxolo Ngubo</a:t>
            </a: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Thabiso </a:t>
            </a:r>
            <a:r>
              <a:rPr lang="en" sz="1600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Moropane</a:t>
            </a: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 </a:t>
            </a:r>
          </a:p>
          <a:p>
            <a:pPr marL="457200" indent="-330200"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 dirty="0" err="1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Thembalethu</a:t>
            </a:r>
            <a:r>
              <a:rPr lang="en"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</a:rPr>
              <a:t> Sambo</a:t>
            </a:r>
          </a:p>
        </p:txBody>
      </p:sp>
      <p:cxnSp>
        <p:nvCxnSpPr>
          <p:cNvPr id="43" name="Google Shape;43;p8"/>
          <p:cNvCxnSpPr/>
          <p:nvPr/>
        </p:nvCxnSpPr>
        <p:spPr>
          <a:xfrm>
            <a:off x="510576" y="1985056"/>
            <a:ext cx="47916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" name="Google Shape;44;p8"/>
          <p:cNvSpPr/>
          <p:nvPr/>
        </p:nvSpPr>
        <p:spPr>
          <a:xfrm>
            <a:off x="5765251" y="1484400"/>
            <a:ext cx="2828700" cy="2785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rgbClr val="37415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5" name="Google Shape;45;p8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7EA6B6-77F5-1C45-4F64-C015E8E165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80" r="21981"/>
          <a:stretch>
            <a:fillRect/>
          </a:stretch>
        </p:blipFill>
        <p:spPr>
          <a:xfrm>
            <a:off x="5387340" y="1226847"/>
            <a:ext cx="3510671" cy="3162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Problem statement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388971" y="2040768"/>
            <a:ext cx="6885128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Problem: </a:t>
            </a:r>
            <a:r>
              <a:rPr lang="en-US" dirty="0">
                <a:solidFill>
                  <a:schemeClr val="bg1"/>
                </a:solidFill>
              </a:rPr>
              <a:t>Traditional subscription models charge fixed fees regardless of actual usage.</a:t>
            </a:r>
          </a:p>
          <a:p>
            <a:pPr marL="285750" indent="-285750" algn="just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  <a:ea typeface="Titillium Web"/>
            </a:endParaRPr>
          </a:p>
          <a:p>
            <a:pPr marL="285750" indent="-285750" algn="just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a typeface="Titillium Web"/>
              </a:rPr>
              <a:t>Why tackle this problem: </a:t>
            </a:r>
            <a:r>
              <a:rPr lang="en-US" dirty="0">
                <a:solidFill>
                  <a:schemeClr val="bg1"/>
                </a:solidFill>
                <a:ea typeface="Titillium Web"/>
              </a:rPr>
              <a:t>PavelPayments aims to reduce subscription waste, create financial inclusion, promote transparent billing, and increased accessibility.</a:t>
            </a:r>
          </a:p>
        </p:txBody>
      </p:sp>
      <p:cxnSp>
        <p:nvCxnSpPr>
          <p:cNvPr id="52" name="Google Shape;52;p9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53" name="Google Shape;53;p9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/>
        </p:nvSpPr>
        <p:spPr>
          <a:xfrm>
            <a:off x="2095551" y="368641"/>
            <a:ext cx="4620900" cy="647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dirty="0">
                <a:solidFill>
                  <a:srgbClr val="00E296"/>
                </a:solidFill>
                <a:latin typeface="Titillium Web"/>
                <a:sym typeface="Titillium Web"/>
              </a:rPr>
              <a:t>Solution</a:t>
            </a:r>
            <a:endParaRPr sz="500" b="0" i="0" u="none" strike="noStrike" cap="none" dirty="0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0"/>
          <p:cNvCxnSpPr>
            <a:cxnSpLocks/>
          </p:cNvCxnSpPr>
          <p:nvPr/>
        </p:nvCxnSpPr>
        <p:spPr>
          <a:xfrm>
            <a:off x="349420" y="990615"/>
            <a:ext cx="8223078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1" name="Google Shape;61;p10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DBD9C1-6C26-3254-5EDC-5B3C6CDBA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" y="1222196"/>
            <a:ext cx="7420542" cy="329286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90F2F238-2765-EA10-CE4B-274AAF0B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>
            <a:extLst>
              <a:ext uri="{FF2B5EF4-FFF2-40B4-BE49-F238E27FC236}">
                <a16:creationId xmlns:a16="http://schemas.microsoft.com/office/drawing/2014/main" id="{3387D266-BAE4-1FEE-D11C-07672647EDB9}"/>
              </a:ext>
            </a:extLst>
          </p:cNvPr>
          <p:cNvSpPr txBox="1"/>
          <p:nvPr/>
        </p:nvSpPr>
        <p:spPr>
          <a:xfrm>
            <a:off x="261755" y="629400"/>
            <a:ext cx="8741141" cy="3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" sz="1600" b="1" dirty="0">
              <a:solidFill>
                <a:schemeClr val="lt1"/>
              </a:solidFill>
            </a:endParaRPr>
          </a:p>
          <a:p>
            <a:pPr>
              <a:buClr>
                <a:schemeClr val="bg1"/>
              </a:buClr>
            </a:pPr>
            <a:r>
              <a:rPr lang="en" sz="1600" b="1" dirty="0">
                <a:solidFill>
                  <a:schemeClr val="lt1"/>
                </a:solidFill>
              </a:rPr>
              <a:t>Technology Stack</a:t>
            </a:r>
          </a:p>
          <a:p>
            <a:pPr>
              <a:buClr>
                <a:schemeClr val="bg1"/>
              </a:buClr>
            </a:pPr>
            <a:endParaRPr lang="en-US" sz="16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Frontend: React.js</a:t>
            </a:r>
            <a:endParaRPr lang="en" sz="16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Backend: Node.js + TypeScript </a:t>
            </a:r>
            <a:endParaRPr lang="en" sz="16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Payments: Interledger Open Payments &amp; GNAP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Database: PostgreSQL </a:t>
            </a:r>
            <a:endParaRPr lang="en" sz="16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Cache: Redis </a:t>
            </a:r>
          </a:p>
          <a:p>
            <a:endParaRPr lang="en" sz="1600" b="1" dirty="0">
              <a:solidFill>
                <a:schemeClr val="lt1"/>
              </a:solidFill>
            </a:endParaRPr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" sz="1600" i="0" u="none" strike="noStrike" cap="none" dirty="0">
              <a:solidFill>
                <a:schemeClr val="lt1"/>
              </a:solidFill>
              <a:ea typeface="Titillium Web"/>
            </a:endParaRPr>
          </a:p>
          <a:p>
            <a:pPr>
              <a:buSzPts val="1600"/>
            </a:pPr>
            <a:endParaRPr lang="en" sz="1600" b="1" dirty="0">
              <a:solidFill>
                <a:schemeClr val="lt1"/>
              </a:solidFill>
              <a:latin typeface="Titillium Web"/>
              <a:ea typeface="Titillium Web"/>
              <a:cs typeface="Titillium Web"/>
            </a:endParaRPr>
          </a:p>
        </p:txBody>
      </p:sp>
      <p:pic>
        <p:nvPicPr>
          <p:cNvPr id="61" name="Google Shape;61;p10" title="0048_FIH_Logo-White.png">
            <a:extLst>
              <a:ext uri="{FF2B5EF4-FFF2-40B4-BE49-F238E27FC236}">
                <a16:creationId xmlns:a16="http://schemas.microsoft.com/office/drawing/2014/main" id="{65FD84DB-313A-7549-25AB-49AF80F869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65125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E4C82D90-5472-7CC3-9480-EAC161DF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>
            <a:extLst>
              <a:ext uri="{FF2B5EF4-FFF2-40B4-BE49-F238E27FC236}">
                <a16:creationId xmlns:a16="http://schemas.microsoft.com/office/drawing/2014/main" id="{CBBBB37F-FFEA-C6D8-8F63-321FAF784274}"/>
              </a:ext>
            </a:extLst>
          </p:cNvPr>
          <p:cNvSpPr txBox="1"/>
          <p:nvPr/>
        </p:nvSpPr>
        <p:spPr>
          <a:xfrm>
            <a:off x="606686" y="792328"/>
            <a:ext cx="6961328" cy="355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bg1"/>
              </a:buClr>
            </a:pPr>
            <a:endParaRPr lang="en" sz="1600" dirty="0">
              <a:solidFill>
                <a:schemeClr val="lt1"/>
              </a:solidFill>
            </a:endParaRPr>
          </a:p>
          <a:p>
            <a:pPr>
              <a:buClr>
                <a:schemeClr val="bg1"/>
              </a:buClr>
            </a:pPr>
            <a:r>
              <a:rPr lang="en" sz="1600" b="1" dirty="0">
                <a:solidFill>
                  <a:schemeClr val="lt1"/>
                </a:solidFill>
              </a:rPr>
              <a:t>What Makes Us Different?</a:t>
            </a:r>
          </a:p>
          <a:p>
            <a:pPr>
              <a:buClr>
                <a:schemeClr val="bg1"/>
              </a:buClr>
            </a:pPr>
            <a:endParaRPr lang="en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Usage-based billing powered by open payments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Real-time payment settlement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Supports multiple billing models </a:t>
            </a:r>
            <a:endParaRPr lang="en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QR-code physical access control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Fair and transparent payment structure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Designed for financial inclusion </a:t>
            </a:r>
          </a:p>
        </p:txBody>
      </p:sp>
      <p:pic>
        <p:nvPicPr>
          <p:cNvPr id="61" name="Google Shape;61;p10" title="0048_FIH_Logo-White.png">
            <a:extLst>
              <a:ext uri="{FF2B5EF4-FFF2-40B4-BE49-F238E27FC236}">
                <a16:creationId xmlns:a16="http://schemas.microsoft.com/office/drawing/2014/main" id="{C7E11518-8A8C-4CA0-FF8A-E0AC866622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353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</a:t>
            </a:r>
            <a:endParaRPr sz="5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11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69" name="Google Shape;69;p11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lang="en" sz="3900" b="1" i="0" u="none" strike="noStrike" cap="non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 sz="500" b="0" i="0" u="none" strike="noStrike" cap="non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 txBox="1"/>
          <p:nvPr/>
        </p:nvSpPr>
        <p:spPr>
          <a:xfrm>
            <a:off x="510564" y="2038590"/>
            <a:ext cx="7728685" cy="239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bg1"/>
              </a:buClr>
            </a:pPr>
            <a:r>
              <a:rPr lang="en" sz="1600" b="1" dirty="0">
                <a:solidFill>
                  <a:schemeClr val="lt1"/>
                </a:solidFill>
              </a:rPr>
              <a:t>Impact: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PavalPayments transforms subscriptions into fair, flexible, and inclusive payment experiences.</a:t>
            </a:r>
          </a:p>
          <a:p>
            <a:pPr>
              <a:buClr>
                <a:schemeClr val="bg1"/>
              </a:buClr>
            </a:pPr>
            <a:endParaRPr lang="en" sz="1600" dirty="0">
              <a:solidFill>
                <a:schemeClr val="lt1"/>
              </a:solidFill>
            </a:endParaRPr>
          </a:p>
          <a:p>
            <a:pPr>
              <a:buClr>
                <a:schemeClr val="bg1"/>
              </a:buClr>
            </a:pPr>
            <a:r>
              <a:rPr lang="en" sz="1600" b="1" dirty="0">
                <a:solidFill>
                  <a:schemeClr val="lt1"/>
                </a:solidFill>
              </a:rPr>
              <a:t>Benefits: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Reduced subscription waste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Greater financial inclusion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Transparent billing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lt1"/>
                </a:solidFill>
              </a:rPr>
              <a:t>Increased accessibility</a:t>
            </a:r>
          </a:p>
          <a:p>
            <a:endParaRPr lang="en" sz="1600" b="1" dirty="0">
              <a:solidFill>
                <a:schemeClr val="lt1"/>
              </a:solidFill>
            </a:endParaRPr>
          </a:p>
          <a:p>
            <a:pPr marL="127000">
              <a:buSzPts val="1600"/>
            </a:pPr>
            <a:endParaRPr lang="en" sz="1600" dirty="0">
              <a:solidFill>
                <a:schemeClr val="lt1"/>
              </a:solidFill>
              <a:latin typeface="Libre Franklin"/>
            </a:endParaRPr>
          </a:p>
        </p:txBody>
      </p:sp>
      <p:cxnSp>
        <p:nvCxnSpPr>
          <p:cNvPr id="76" name="Google Shape;76;p12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w="9525" cap="flat" cmpd="sng">
            <a:solidFill>
              <a:srgbClr val="00E296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77" name="Google Shape;77;p12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405300" y="2187725"/>
            <a:ext cx="8260500" cy="19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 you.</a:t>
            </a:r>
            <a:endParaRPr sz="3000" b="0" i="0" u="none" strike="noStrike" cap="non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83" name="Google Shape;83;p13" title="0048_FIH_Logo-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On-screen Show (16:9)</PresentationFormat>
  <Paragraphs>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Titillium Web</vt:lpstr>
      <vt:lpstr>Helvetica Neue</vt:lpstr>
      <vt:lpstr>Arial</vt:lpstr>
      <vt:lpstr>Titillium Web SemiBold</vt:lpstr>
      <vt:lpstr>Titillium Web Light</vt:lpstr>
      <vt:lpstr>Libre Franklin</vt:lpstr>
      <vt:lpstr>Interledger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P0llen Jay</dc:creator>
  <cp:lastModifiedBy>THEMBALETHU BRILLIANT SAMBO</cp:lastModifiedBy>
  <cp:revision>291</cp:revision>
  <dcterms:modified xsi:type="dcterms:W3CDTF">2026-06-27T11:34:48Z</dcterms:modified>
</cp:coreProperties>
</file>