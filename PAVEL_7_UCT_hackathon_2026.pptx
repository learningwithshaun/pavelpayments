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4" r:id="rId6"/>
    <p:sldId id="263" r:id="rId7"/>
    <p:sldId id="260" r:id="rId8"/>
    <p:sldId id="261" r:id="rId9"/>
    <p:sldId id="262" r:id="rId10"/>
  </p:sldIdLst>
  <p:sldSz cx="9144000" cy="5143500" type="screen16x9"/>
  <p:notesSz cx="6858000" cy="9144000"/>
  <p:embeddedFontLst>
    <p:embeddedFont>
      <p:font typeface="Helvetica Neue" panose="020B0604020202020204" charset="0"/>
      <p:regular r:id="rId12"/>
      <p:bold r:id="rId13"/>
      <p:italic r:id="rId14"/>
      <p:boldItalic r:id="rId15"/>
    </p:embeddedFont>
    <p:embeddedFont>
      <p:font typeface="Libre Franklin" pitchFamily="2" charset="0"/>
      <p:regular r:id="rId16"/>
      <p:bold r:id="rId17"/>
      <p:italic r:id="rId18"/>
      <p:boldItalic r:id="rId19"/>
    </p:embeddedFont>
    <p:embeddedFont>
      <p:font typeface="Titillium Web" panose="00000500000000000000" pitchFamily="2" charset="0"/>
      <p:regular r:id="rId20"/>
      <p:bold r:id="rId21"/>
      <p:italic r:id="rId22"/>
      <p:boldItalic r:id="rId23"/>
    </p:embeddedFont>
    <p:embeddedFont>
      <p:font typeface="Titillium Web Light" panose="00000400000000000000" pitchFamily="2" charset="0"/>
      <p:regular r:id="rId24"/>
      <p:italic r:id="rId25"/>
    </p:embeddedFont>
    <p:embeddedFont>
      <p:font typeface="Titillium Web SemiBold" panose="00000700000000000000" pitchFamily="2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B1E5964-C148-F65E-DEAE-672214AFE4AC}" v="1611" dt="2026-06-26T16:26:15.8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874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26" Type="http://schemas.openxmlformats.org/officeDocument/2006/relationships/font" Target="fonts/font15.fntdata"/><Relationship Id="rId3" Type="http://schemas.openxmlformats.org/officeDocument/2006/relationships/slide" Target="slides/slide2.xml"/><Relationship Id="rId21" Type="http://schemas.openxmlformats.org/officeDocument/2006/relationships/font" Target="fonts/font10.fntdata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5" Type="http://schemas.openxmlformats.org/officeDocument/2006/relationships/font" Target="fonts/font14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font" Target="fonts/font9.fntdata"/><Relationship Id="rId29" Type="http://schemas.openxmlformats.org/officeDocument/2006/relationships/font" Target="fonts/font1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24" Type="http://schemas.openxmlformats.org/officeDocument/2006/relationships/font" Target="fonts/font13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font" Target="fonts/font12.fntdata"/><Relationship Id="rId28" Type="http://schemas.openxmlformats.org/officeDocument/2006/relationships/font" Target="fonts/font17.fntdata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font" Target="fonts/font11.fntdata"/><Relationship Id="rId27" Type="http://schemas.openxmlformats.org/officeDocument/2006/relationships/font" Target="fonts/font16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  <p:sp>
        <p:nvSpPr>
          <p:cNvPr id="32" name="Google Shape;3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" name="Google Shape;3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8" name="Google Shape;4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  <p:sp>
        <p:nvSpPr>
          <p:cNvPr id="56" name="Google Shape;5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>
          <a:extLst>
            <a:ext uri="{FF2B5EF4-FFF2-40B4-BE49-F238E27FC236}">
              <a16:creationId xmlns:a16="http://schemas.microsoft.com/office/drawing/2014/main" id="{03A032A4-D30D-BE5B-CB22-A639829E6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>
            <a:extLst>
              <a:ext uri="{FF2B5EF4-FFF2-40B4-BE49-F238E27FC236}">
                <a16:creationId xmlns:a16="http://schemas.microsoft.com/office/drawing/2014/main" id="{808671E1-9BF6-5E20-7D4D-F11CD97058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" name="Google Shape;56;p4:notes">
            <a:extLst>
              <a:ext uri="{FF2B5EF4-FFF2-40B4-BE49-F238E27FC236}">
                <a16:creationId xmlns:a16="http://schemas.microsoft.com/office/drawing/2014/main" id="{3A5992F0-DFC0-DF17-9B84-C803401CE61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690677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>
          <a:extLst>
            <a:ext uri="{FF2B5EF4-FFF2-40B4-BE49-F238E27FC236}">
              <a16:creationId xmlns:a16="http://schemas.microsoft.com/office/drawing/2014/main" id="{CE19343E-B563-0014-082C-4BB8BF86FA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:notes">
            <a:extLst>
              <a:ext uri="{FF2B5EF4-FFF2-40B4-BE49-F238E27FC236}">
                <a16:creationId xmlns:a16="http://schemas.microsoft.com/office/drawing/2014/main" id="{BEF3ED35-4F9A-8C5E-E025-076787552B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" name="Google Shape;56;p4:notes">
            <a:extLst>
              <a:ext uri="{FF2B5EF4-FFF2-40B4-BE49-F238E27FC236}">
                <a16:creationId xmlns:a16="http://schemas.microsoft.com/office/drawing/2014/main" id="{DE785049-9C76-474F-3965-D960FC7DE9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</p:spTree>
    <p:extLst>
      <p:ext uri="{BB962C8B-B14F-4D97-AF65-F5344CB8AC3E}">
        <p14:creationId xmlns:p14="http://schemas.microsoft.com/office/powerpoint/2010/main" val="193734749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5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4" name="Google Shape;6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6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72" name="Google Shape;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7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80" name="Google Shape;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ZA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dark (phone)" type="tx">
  <p:cSld name="TITLE_AND_BODY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6000" y="325382"/>
            <a:ext cx="1982574" cy="48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2" title="image-14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68225" y="691999"/>
            <a:ext cx="3759524" cy="37595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light texture A">
  <p:cSld name="CUSTOM_2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2726" y="188875"/>
            <a:ext cx="1406326" cy="343254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3"/>
          <p:cNvSpPr/>
          <p:nvPr/>
        </p:nvSpPr>
        <p:spPr>
          <a:xfrm>
            <a:off x="0" y="4810691"/>
            <a:ext cx="9144000" cy="3531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18" name="Google Shape;18;p3"/>
          <p:cNvSpPr txBox="1"/>
          <p:nvPr/>
        </p:nvSpPr>
        <p:spPr>
          <a:xfrm>
            <a:off x="5721359" y="4887439"/>
            <a:ext cx="32364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ctr" anchorCtr="0">
            <a:spAutoFit/>
          </a:bodyPr>
          <a:lstStyle/>
          <a:p>
            <a: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Titillium Web Light"/>
              <a:buNone/>
            </a:pPr>
            <a:r>
              <a:rPr lang="en" sz="1200" b="1" i="0" u="none" strike="noStrike" cap="none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@interledger  </a:t>
            </a:r>
            <a:r>
              <a:rPr lang="en" sz="1200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#OpenPayments</a:t>
            </a:r>
            <a:endParaRPr sz="500" b="1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" name="Google Shape;19;p3"/>
          <p:cNvSpPr txBox="1"/>
          <p:nvPr/>
        </p:nvSpPr>
        <p:spPr>
          <a:xfrm>
            <a:off x="1399416" y="4880841"/>
            <a:ext cx="844200" cy="2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Autofit/>
          </a:bodyPr>
          <a:lstStyle/>
          <a:p>
            <a:pPr marL="0" marR="0" lvl="1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Titillium Web Light"/>
              <a:buNone/>
            </a:pPr>
            <a:r>
              <a:rPr lang="en" sz="1400" b="1" i="0" u="none" strike="noStrike" cap="none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#</a:t>
            </a:r>
            <a:r>
              <a:rPr lang="en" b="1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rPr>
              <a:t>ILPHacks</a:t>
            </a:r>
            <a:endParaRPr sz="1400" b="1" i="0" u="none" strike="noStrike" cap="none">
              <a:solidFill>
                <a:schemeClr val="dk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pic>
        <p:nvPicPr>
          <p:cNvPr id="20" name="Google Shape;20;p3" title="image-15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flipH="1">
            <a:off x="90700" y="4173187"/>
            <a:ext cx="1308725" cy="98491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dark (phone) 1">
  <p:cSld name="TITLE_AND_BODY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4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4" name="Google Shape;24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6000" y="325382"/>
            <a:ext cx="1982574" cy="483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dark gradient">
  <p:cSld name="CUSTOM_1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26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3999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2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2726" y="188875"/>
            <a:ext cx="1406326" cy="34325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slide no background B">
  <p:cSld name="CUSTOM_4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32749" y="188875"/>
            <a:ext cx="1406326" cy="343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itillium Web"/>
              <a:buNone/>
              <a:defRPr sz="2800" b="0" i="0" u="none" strike="noStrike" cap="none">
                <a:solidFill>
                  <a:schemeClr val="dk1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Titillium Web"/>
              <a:buChar char="●"/>
              <a:defRPr sz="18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○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■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●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○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■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●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○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Titillium Web"/>
              <a:buChar char="■"/>
              <a:defRPr sz="1400" b="0" i="0" u="none" strike="noStrike" cap="none">
                <a:solidFill>
                  <a:schemeClr val="dk2"/>
                </a:solidFill>
                <a:latin typeface="Titillium Web"/>
                <a:ea typeface="Titillium Web"/>
                <a:cs typeface="Titillium Web"/>
                <a:sym typeface="Titillium Web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/>
          <p:nvPr/>
        </p:nvSpPr>
        <p:spPr>
          <a:xfrm>
            <a:off x="6470275" y="2556825"/>
            <a:ext cx="1463100" cy="219600"/>
          </a:xfrm>
          <a:prstGeom prst="rect">
            <a:avLst/>
          </a:prstGeom>
          <a:solidFill>
            <a:srgbClr val="0F043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en" sz="1200" b="1" i="0" u="none" strike="noStrike" cap="none">
                <a:solidFill>
                  <a:srgbClr val="E69138"/>
                </a:solidFill>
                <a:latin typeface="Titillium Web"/>
                <a:ea typeface="Titillium Web"/>
                <a:cs typeface="Titillium Web"/>
                <a:sym typeface="Titillium Web"/>
              </a:rPr>
              <a:t>OPEN PAYMENTS</a:t>
            </a:r>
            <a:endParaRPr sz="1200" b="1" i="0" u="none" strike="noStrike" cap="none">
              <a:solidFill>
                <a:srgbClr val="E69138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sp>
        <p:nvSpPr>
          <p:cNvPr id="35" name="Google Shape;35;p7"/>
          <p:cNvSpPr txBox="1"/>
          <p:nvPr/>
        </p:nvSpPr>
        <p:spPr>
          <a:xfrm>
            <a:off x="329184" y="1719072"/>
            <a:ext cx="4958871" cy="19543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>
              <a:buSzPts val="1100"/>
            </a:pPr>
            <a:r>
              <a:rPr lang="en" sz="3500" b="1" dirty="0">
                <a:solidFill>
                  <a:srgbClr val="EEFF41"/>
                </a:solidFill>
                <a:latin typeface="Titillium Web"/>
                <a:ea typeface="Titillium Web"/>
                <a:cs typeface="Titillium Web"/>
                <a:sym typeface="Titillium Web"/>
              </a:rPr>
              <a:t>PAVEL_7</a:t>
            </a:r>
            <a:endParaRPr lang="en-US" sz="3300" b="1" dirty="0">
              <a:solidFill>
                <a:srgbClr val="00FFFF"/>
              </a:solidFill>
              <a:latin typeface="Titillium Web"/>
              <a:ea typeface="Titillium Web"/>
              <a:cs typeface="Titillium Web"/>
              <a:sym typeface="Titillium Web SemiBold"/>
            </a:endParaRPr>
          </a:p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</a:pPr>
            <a:r>
              <a:rPr lang="en" sz="3000" b="0" i="0" u="none" strike="noStrike" cap="none" dirty="0">
                <a:solidFill>
                  <a:srgbClr val="00FFFF"/>
                </a:solidFill>
                <a:latin typeface="Titillium Web SemiBold"/>
                <a:ea typeface="Titillium Web SemiBold"/>
                <a:cs typeface="Titillium Web SemiBold"/>
                <a:sym typeface="Titillium Web SemiBold"/>
              </a:rPr>
              <a:t>Hackathon 2026</a:t>
            </a:r>
            <a:endParaRPr lang="en-US" sz="3300" b="1" i="0" u="none" strike="noStrike" cap="none" dirty="0">
              <a:solidFill>
                <a:srgbClr val="00FFFF"/>
              </a:solidFill>
              <a:latin typeface="Titillium Web"/>
              <a:ea typeface="Titillium Web SemiBold"/>
              <a:cs typeface="Titillium Web SemiBold"/>
            </a:endParaRPr>
          </a:p>
          <a:p>
            <a:pPr>
              <a:buSzPts val="1100"/>
            </a:pPr>
            <a:endParaRPr lang="en" sz="3000" dirty="0">
              <a:solidFill>
                <a:srgbClr val="00FFFF"/>
              </a:solidFill>
              <a:latin typeface="Titillium Web SemiBold"/>
              <a:ea typeface="Titillium Web"/>
              <a:cs typeface="Titillium Web"/>
            </a:endParaRPr>
          </a:p>
          <a:p>
            <a:pPr>
              <a:buSzPts val="1100"/>
            </a:pPr>
            <a:r>
              <a:rPr lang="en" sz="2000" dirty="0">
                <a:solidFill>
                  <a:srgbClr val="00FFFF"/>
                </a:solidFill>
                <a:latin typeface="Titillium Web SemiBold"/>
                <a:ea typeface="Titillium Web"/>
                <a:cs typeface="Titillium Web"/>
              </a:rPr>
              <a:t>"Pay As You Use"</a:t>
            </a:r>
          </a:p>
        </p:txBody>
      </p:sp>
      <p:pic>
        <p:nvPicPr>
          <p:cNvPr id="36" name="Google Shape;36;p7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724150" y="380476"/>
            <a:ext cx="1783537" cy="42976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rgbClr val="00E296"/>
                </a:solidFill>
                <a:latin typeface="Titillium Web"/>
                <a:ea typeface="Titillium Web"/>
                <a:cs typeface="Titillium Web"/>
                <a:sym typeface="Titillium Web"/>
              </a:rPr>
              <a:t>Meet the team</a:t>
            </a:r>
            <a:endParaRPr sz="500" b="0" i="0" u="none" strike="noStrike" cap="none">
              <a:solidFill>
                <a:srgbClr val="00E2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8"/>
          <p:cNvSpPr txBox="1"/>
          <p:nvPr/>
        </p:nvSpPr>
        <p:spPr>
          <a:xfrm>
            <a:off x="405300" y="2029883"/>
            <a:ext cx="4620900" cy="21375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en" sz="1600" b="1" i="0" u="none" strike="noStrike" cap="none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 </a:t>
            </a:r>
            <a:r>
              <a:rPr lang="en" sz="1600" b="1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PavelPayments</a:t>
            </a:r>
            <a:endParaRPr lang="en-US" sz="1600" b="1" i="0" u="none" strike="noStrike" cap="none" dirty="0" err="1">
              <a:solidFill>
                <a:schemeClr val="lt1"/>
              </a:solidFill>
              <a:latin typeface="Titillium Web"/>
              <a:ea typeface="Titillium Web"/>
              <a:cs typeface="Titillium Web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  <a:p>
            <a:pPr marL="457200" indent="-330200"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 err="1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Vhutali</a:t>
            </a: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 </a:t>
            </a:r>
            <a:r>
              <a:rPr lang="en" sz="1600" dirty="0" err="1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Tsanwani</a:t>
            </a:r>
            <a:endParaRPr lang="en"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</a:endParaRPr>
          </a:p>
          <a:p>
            <a:pPr marL="457200" indent="-330200"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Erico Mutonkole</a:t>
            </a:r>
            <a:endParaRPr lang="en"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</a:endParaRPr>
          </a:p>
          <a:p>
            <a:pPr marL="457200" indent="-330200"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Lisakhanya Tshokolo</a:t>
            </a:r>
            <a:endParaRPr lang="en"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</a:endParaRPr>
          </a:p>
          <a:p>
            <a:pPr marL="457200" indent="-330200"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Amanda Msutu</a:t>
            </a:r>
            <a:endParaRPr lang="en" sz="1600" b="0" i="0" u="none" strike="noStrike" cap="none" dirty="0">
              <a:solidFill>
                <a:schemeClr val="lt1"/>
              </a:solidFill>
              <a:latin typeface="Titillium Web"/>
              <a:ea typeface="Titillium Web"/>
              <a:cs typeface="Titillium Web"/>
            </a:endParaRPr>
          </a:p>
          <a:p>
            <a:pPr marL="457200" indent="-330200"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Noxolo Ngubo</a:t>
            </a:r>
          </a:p>
          <a:p>
            <a:pPr marL="457200" indent="-330200"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Thabiso </a:t>
            </a:r>
            <a:r>
              <a:rPr lang="en" sz="1600" dirty="0" err="1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Moropane</a:t>
            </a: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 </a:t>
            </a:r>
          </a:p>
          <a:p>
            <a:pPr marL="457200" indent="-330200">
              <a:buClr>
                <a:schemeClr val="lt1"/>
              </a:buClr>
              <a:buSzPts val="1600"/>
              <a:buFont typeface="Titillium Web"/>
              <a:buChar char="●"/>
            </a:pPr>
            <a:r>
              <a:rPr lang="en" sz="1600" dirty="0" err="1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Thembalethu</a:t>
            </a:r>
            <a:r>
              <a:rPr lang="en" sz="1600" dirty="0">
                <a:solidFill>
                  <a:schemeClr val="lt1"/>
                </a:solidFill>
                <a:latin typeface="Titillium Web"/>
                <a:ea typeface="Titillium Web"/>
                <a:cs typeface="Titillium Web"/>
              </a:rPr>
              <a:t> Sambo</a:t>
            </a:r>
          </a:p>
        </p:txBody>
      </p:sp>
      <p:cxnSp>
        <p:nvCxnSpPr>
          <p:cNvPr id="43" name="Google Shape;43;p8"/>
          <p:cNvCxnSpPr/>
          <p:nvPr/>
        </p:nvCxnSpPr>
        <p:spPr>
          <a:xfrm>
            <a:off x="510576" y="1985056"/>
            <a:ext cx="4791600" cy="0"/>
          </a:xfrm>
          <a:prstGeom prst="straightConnector1">
            <a:avLst/>
          </a:prstGeom>
          <a:noFill/>
          <a:ln w="9525" cap="flat" cmpd="sng">
            <a:solidFill>
              <a:srgbClr val="00E296"/>
            </a:solidFill>
            <a:prstDash val="solid"/>
            <a:round/>
            <a:headEnd type="none" w="sm" len="sm"/>
            <a:tailEnd type="stealth" w="med" len="med"/>
          </a:ln>
        </p:spPr>
      </p:cxnSp>
      <p:sp>
        <p:nvSpPr>
          <p:cNvPr id="44" name="Google Shape;44;p8"/>
          <p:cNvSpPr/>
          <p:nvPr/>
        </p:nvSpPr>
        <p:spPr>
          <a:xfrm>
            <a:off x="5765251" y="1484400"/>
            <a:ext cx="2828700" cy="2785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595959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600" b="0" i="0" u="none" strike="noStrike" cap="none" dirty="0">
              <a:solidFill>
                <a:srgbClr val="37415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pic>
        <p:nvPicPr>
          <p:cNvPr id="45" name="Google Shape;45;p8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17EA6B6-77F5-1C45-4F64-C015E8E165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2480" r="21981"/>
          <a:stretch>
            <a:fillRect/>
          </a:stretch>
        </p:blipFill>
        <p:spPr>
          <a:xfrm>
            <a:off x="5387340" y="1226847"/>
            <a:ext cx="3510671" cy="316227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rgbClr val="00E296"/>
                </a:solidFill>
                <a:latin typeface="Titillium Web"/>
                <a:ea typeface="Titillium Web"/>
                <a:cs typeface="Titillium Web"/>
                <a:sym typeface="Titillium Web"/>
              </a:rPr>
              <a:t>Problem statement</a:t>
            </a:r>
            <a:endParaRPr sz="500" b="0" i="0" u="none" strike="noStrike" cap="none">
              <a:solidFill>
                <a:srgbClr val="00E2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388971" y="2040768"/>
            <a:ext cx="6885128" cy="19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 algn="just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</a:rPr>
              <a:t>Problem: </a:t>
            </a:r>
            <a:r>
              <a:rPr lang="en-US" dirty="0">
                <a:solidFill>
                  <a:schemeClr val="bg1"/>
                </a:solidFill>
              </a:rPr>
              <a:t>Traditional subscription models charge fixed fees regardless of actual usage.</a:t>
            </a:r>
          </a:p>
          <a:p>
            <a:pPr marL="285750" indent="-285750" algn="just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endParaRPr lang="en-US" b="1" dirty="0">
              <a:solidFill>
                <a:schemeClr val="bg1"/>
              </a:solidFill>
              <a:ea typeface="Titillium Web"/>
            </a:endParaRPr>
          </a:p>
          <a:p>
            <a:pPr marL="285750" indent="-285750" algn="just">
              <a:lnSpc>
                <a:spcPct val="150000"/>
              </a:lnSpc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chemeClr val="bg1"/>
                </a:solidFill>
                <a:ea typeface="Titillium Web"/>
              </a:rPr>
              <a:t>Why tackle this problem: </a:t>
            </a:r>
            <a:r>
              <a:rPr lang="en-US" dirty="0">
                <a:solidFill>
                  <a:schemeClr val="bg1"/>
                </a:solidFill>
                <a:ea typeface="Titillium Web"/>
              </a:rPr>
              <a:t>PavelPayments aims to reduce subscription waste, create financial inclusion, promote transparent billing, and increased accessibility.</a:t>
            </a:r>
          </a:p>
        </p:txBody>
      </p:sp>
      <p:cxnSp>
        <p:nvCxnSpPr>
          <p:cNvPr id="52" name="Google Shape;52;p9"/>
          <p:cNvCxnSpPr/>
          <p:nvPr/>
        </p:nvCxnSpPr>
        <p:spPr>
          <a:xfrm>
            <a:off x="510576" y="1985056"/>
            <a:ext cx="5456100" cy="0"/>
          </a:xfrm>
          <a:prstGeom prst="straightConnector1">
            <a:avLst/>
          </a:prstGeom>
          <a:noFill/>
          <a:ln w="9525" cap="flat" cmpd="sng">
            <a:solidFill>
              <a:srgbClr val="00E296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53" name="Google Shape;53;p9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/>
        </p:nvSpPr>
        <p:spPr>
          <a:xfrm>
            <a:off x="2095551" y="368641"/>
            <a:ext cx="4620900" cy="6478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dirty="0">
                <a:solidFill>
                  <a:srgbClr val="00E296"/>
                </a:solidFill>
                <a:latin typeface="Titillium Web"/>
                <a:sym typeface="Titillium Web"/>
              </a:rPr>
              <a:t>Solution</a:t>
            </a:r>
            <a:endParaRPr sz="500" b="0" i="0" u="none" strike="noStrike" cap="none" dirty="0">
              <a:solidFill>
                <a:srgbClr val="00E2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" name="Google Shape;60;p10"/>
          <p:cNvCxnSpPr>
            <a:cxnSpLocks/>
          </p:cNvCxnSpPr>
          <p:nvPr/>
        </p:nvCxnSpPr>
        <p:spPr>
          <a:xfrm>
            <a:off x="349420" y="990615"/>
            <a:ext cx="8223078" cy="0"/>
          </a:xfrm>
          <a:prstGeom prst="straightConnector1">
            <a:avLst/>
          </a:prstGeom>
          <a:noFill/>
          <a:ln w="9525" cap="flat" cmpd="sng">
            <a:solidFill>
              <a:srgbClr val="00E296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61" name="Google Shape;61;p10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5DBD9C1-6C26-3254-5EDC-5B3C6CDBA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3940" y="1222196"/>
            <a:ext cx="7420542" cy="3292865"/>
          </a:xfrm>
          <a:prstGeom prst="rect">
            <a:avLst/>
          </a:prstGeom>
        </p:spPr>
      </p:pic>
    </p:spTree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>
          <a:extLst>
            <a:ext uri="{FF2B5EF4-FFF2-40B4-BE49-F238E27FC236}">
              <a16:creationId xmlns:a16="http://schemas.microsoft.com/office/drawing/2014/main" id="{90F2F238-2765-EA10-CE4B-274AAF0B2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>
            <a:extLst>
              <a:ext uri="{FF2B5EF4-FFF2-40B4-BE49-F238E27FC236}">
                <a16:creationId xmlns:a16="http://schemas.microsoft.com/office/drawing/2014/main" id="{3387D266-BAE4-1FEE-D11C-07672647EDB9}"/>
              </a:ext>
            </a:extLst>
          </p:cNvPr>
          <p:cNvSpPr txBox="1"/>
          <p:nvPr/>
        </p:nvSpPr>
        <p:spPr>
          <a:xfrm>
            <a:off x="261755" y="629400"/>
            <a:ext cx="8741141" cy="38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endParaRPr lang="en" sz="1600" b="1" dirty="0">
              <a:solidFill>
                <a:schemeClr val="lt1"/>
              </a:solidFill>
            </a:endParaRPr>
          </a:p>
          <a:p>
            <a:pPr>
              <a:buClr>
                <a:schemeClr val="bg1"/>
              </a:buClr>
            </a:pPr>
            <a:r>
              <a:rPr lang="en" sz="1600" b="1" dirty="0">
                <a:solidFill>
                  <a:schemeClr val="lt1"/>
                </a:solidFill>
              </a:rPr>
              <a:t>Technology Stack</a:t>
            </a:r>
          </a:p>
          <a:p>
            <a:pPr>
              <a:buClr>
                <a:schemeClr val="bg1"/>
              </a:buClr>
            </a:pPr>
            <a:endParaRPr lang="en-US" sz="16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Frontend: React.js</a:t>
            </a:r>
            <a:endParaRPr lang="en" sz="16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Backend: Node.js + TypeScript </a:t>
            </a:r>
            <a:endParaRPr lang="en" sz="16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Payments: Interledger Open Payments &amp; GNAP 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Database: PostgreSQL </a:t>
            </a:r>
            <a:endParaRPr lang="en" sz="1600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Cache: Redis </a:t>
            </a:r>
          </a:p>
          <a:p>
            <a:endParaRPr lang="en" sz="1600" b="1" dirty="0">
              <a:solidFill>
                <a:schemeClr val="lt1"/>
              </a:solidFill>
            </a:endParaRPr>
          </a:p>
          <a:p>
            <a:pPr marL="285750" marR="0" lvl="0" indent="-28575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/>
              <a:buChar char="•"/>
            </a:pPr>
            <a:endParaRPr lang="en" sz="1600" i="0" u="none" strike="noStrike" cap="none" dirty="0">
              <a:solidFill>
                <a:schemeClr val="lt1"/>
              </a:solidFill>
              <a:ea typeface="Titillium Web"/>
            </a:endParaRPr>
          </a:p>
          <a:p>
            <a:pPr>
              <a:buSzPts val="1600"/>
            </a:pPr>
            <a:endParaRPr lang="en" sz="1600" b="1" dirty="0">
              <a:solidFill>
                <a:schemeClr val="lt1"/>
              </a:solidFill>
              <a:latin typeface="Titillium Web"/>
              <a:ea typeface="Titillium Web"/>
              <a:cs typeface="Titillium Web"/>
            </a:endParaRPr>
          </a:p>
        </p:txBody>
      </p:sp>
      <p:pic>
        <p:nvPicPr>
          <p:cNvPr id="61" name="Google Shape;61;p10" title="0048_FIH_Logo-White.png">
            <a:extLst>
              <a:ext uri="{FF2B5EF4-FFF2-40B4-BE49-F238E27FC236}">
                <a16:creationId xmlns:a16="http://schemas.microsoft.com/office/drawing/2014/main" id="{65FD84DB-313A-7549-25AB-49AF80F869E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61651251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">
          <a:extLst>
            <a:ext uri="{FF2B5EF4-FFF2-40B4-BE49-F238E27FC236}">
              <a16:creationId xmlns:a16="http://schemas.microsoft.com/office/drawing/2014/main" id="{E4C82D90-5472-7CC3-9480-EAC161DF3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>
            <a:extLst>
              <a:ext uri="{FF2B5EF4-FFF2-40B4-BE49-F238E27FC236}">
                <a16:creationId xmlns:a16="http://schemas.microsoft.com/office/drawing/2014/main" id="{CBBBB37F-FFEA-C6D8-8F63-321FAF784274}"/>
              </a:ext>
            </a:extLst>
          </p:cNvPr>
          <p:cNvSpPr txBox="1"/>
          <p:nvPr/>
        </p:nvSpPr>
        <p:spPr>
          <a:xfrm>
            <a:off x="606686" y="792328"/>
            <a:ext cx="6961328" cy="3558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chemeClr val="bg1"/>
              </a:buClr>
            </a:pPr>
            <a:endParaRPr lang="en" sz="1600" dirty="0">
              <a:solidFill>
                <a:schemeClr val="lt1"/>
              </a:solidFill>
            </a:endParaRPr>
          </a:p>
          <a:p>
            <a:pPr>
              <a:buClr>
                <a:schemeClr val="bg1"/>
              </a:buClr>
            </a:pPr>
            <a:r>
              <a:rPr lang="en" sz="1600" b="1" dirty="0">
                <a:solidFill>
                  <a:schemeClr val="lt1"/>
                </a:solidFill>
              </a:rPr>
              <a:t>What Makes Us Different?</a:t>
            </a:r>
          </a:p>
          <a:p>
            <a:pPr>
              <a:buClr>
                <a:schemeClr val="bg1"/>
              </a:buClr>
            </a:pPr>
            <a:endParaRPr lang="en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Usage-based billing powered by open payments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Real-time payment settlement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Supports multiple billing models </a:t>
            </a:r>
            <a:endParaRPr lang="en" dirty="0"/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QR-code physical access control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Fair and transparent payment structure</a:t>
            </a:r>
          </a:p>
          <a:p>
            <a:pPr marL="285750" indent="-285750">
              <a:buClr>
                <a:schemeClr val="bg1"/>
              </a:buClr>
              <a:buFont typeface="Arial" panose="020B0604020202020204" pitchFamily="34" charset="0"/>
              <a:buChar char="•"/>
            </a:pPr>
            <a:r>
              <a:rPr lang="en" sz="1600" dirty="0">
                <a:solidFill>
                  <a:schemeClr val="lt1"/>
                </a:solidFill>
              </a:rPr>
              <a:t>Designed for financial inclusion </a:t>
            </a:r>
          </a:p>
        </p:txBody>
      </p:sp>
      <p:pic>
        <p:nvPicPr>
          <p:cNvPr id="61" name="Google Shape;61;p10" title="0048_FIH_Logo-White.png">
            <a:extLst>
              <a:ext uri="{FF2B5EF4-FFF2-40B4-BE49-F238E27FC236}">
                <a16:creationId xmlns:a16="http://schemas.microsoft.com/office/drawing/2014/main" id="{C7E11518-8A8C-4CA0-FF8A-E0AC866622C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08353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1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chemeClr val="accent6"/>
                </a:solidFill>
                <a:latin typeface="Titillium Web"/>
                <a:ea typeface="Titillium Web"/>
                <a:cs typeface="Titillium Web"/>
                <a:sym typeface="Titillium Web"/>
              </a:rPr>
              <a:t>Demo</a:t>
            </a:r>
            <a:endParaRPr sz="500" b="0" i="0" u="none" strike="noStrike" cap="none">
              <a:solidFill>
                <a:schemeClr val="accent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8" name="Google Shape;68;p11"/>
          <p:cNvCxnSpPr/>
          <p:nvPr/>
        </p:nvCxnSpPr>
        <p:spPr>
          <a:xfrm>
            <a:off x="510576" y="1985056"/>
            <a:ext cx="5456100" cy="0"/>
          </a:xfrm>
          <a:prstGeom prst="straightConnector1">
            <a:avLst/>
          </a:prstGeom>
          <a:noFill/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69" name="Google Shape;69;p11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2"/>
          <p:cNvSpPr txBox="1"/>
          <p:nvPr/>
        </p:nvSpPr>
        <p:spPr>
          <a:xfrm>
            <a:off x="510564" y="1168200"/>
            <a:ext cx="4620900" cy="5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9050" tIns="19050" rIns="19050" bIns="19050" anchor="t" anchorCtr="0">
            <a:norm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7100F4"/>
              </a:buClr>
              <a:buSzPts val="3900"/>
              <a:buFont typeface="Titillium Web"/>
              <a:buNone/>
            </a:pPr>
            <a:r>
              <a:rPr lang="en" sz="3900" b="1" i="0" u="none" strike="noStrike" cap="none">
                <a:solidFill>
                  <a:srgbClr val="00E296"/>
                </a:solidFill>
                <a:latin typeface="Titillium Web"/>
                <a:ea typeface="Titillium Web"/>
                <a:cs typeface="Titillium Web"/>
                <a:sym typeface="Titillium Web"/>
              </a:rPr>
              <a:t>Conclusion</a:t>
            </a:r>
            <a:endParaRPr sz="500" b="0" i="0" u="none" strike="noStrike" cap="none">
              <a:solidFill>
                <a:srgbClr val="00E29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5" name="Google Shape;75;p12"/>
          <p:cNvSpPr txBox="1"/>
          <p:nvPr/>
        </p:nvSpPr>
        <p:spPr>
          <a:xfrm>
            <a:off x="510564" y="2038590"/>
            <a:ext cx="7728685" cy="2396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buClr>
                <a:schemeClr val="bg1"/>
              </a:buClr>
            </a:pPr>
            <a:endParaRPr lang="en" sz="1600" dirty="0">
              <a:solidFill>
                <a:schemeClr val="lt1"/>
              </a:solidFill>
            </a:endParaRPr>
          </a:p>
          <a:p>
            <a:pPr>
              <a:buClr>
                <a:schemeClr val="bg1"/>
              </a:buClr>
            </a:pPr>
            <a:r>
              <a:rPr lang="en" sz="1600" dirty="0">
                <a:solidFill>
                  <a:schemeClr val="lt1"/>
                </a:solidFill>
              </a:rPr>
              <a:t>PavelPayments transforms subscriptions into fair, flexible, and inclusive payment experiences.</a:t>
            </a:r>
          </a:p>
          <a:p>
            <a:endParaRPr lang="en" sz="1600" b="1" dirty="0">
              <a:solidFill>
                <a:schemeClr val="lt1"/>
              </a:solidFill>
            </a:endParaRPr>
          </a:p>
          <a:p>
            <a:pPr marL="127000">
              <a:buSzPts val="1600"/>
            </a:pPr>
            <a:endParaRPr lang="en" sz="1600" dirty="0">
              <a:solidFill>
                <a:schemeClr val="lt1"/>
              </a:solidFill>
              <a:latin typeface="Libre Franklin"/>
            </a:endParaRPr>
          </a:p>
        </p:txBody>
      </p:sp>
      <p:cxnSp>
        <p:nvCxnSpPr>
          <p:cNvPr id="76" name="Google Shape;76;p12"/>
          <p:cNvCxnSpPr/>
          <p:nvPr/>
        </p:nvCxnSpPr>
        <p:spPr>
          <a:xfrm>
            <a:off x="510576" y="1985056"/>
            <a:ext cx="5456100" cy="0"/>
          </a:xfrm>
          <a:prstGeom prst="straightConnector1">
            <a:avLst/>
          </a:prstGeom>
          <a:noFill/>
          <a:ln w="9525" cap="flat" cmpd="sng">
            <a:solidFill>
              <a:srgbClr val="00E296"/>
            </a:solidFill>
            <a:prstDash val="solid"/>
            <a:round/>
            <a:headEnd type="none" w="sm" len="sm"/>
            <a:tailEnd type="stealth" w="med" len="med"/>
          </a:ln>
        </p:spPr>
      </p:cxnSp>
      <p:pic>
        <p:nvPicPr>
          <p:cNvPr id="77" name="Google Shape;77;p12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3"/>
          <p:cNvSpPr txBox="1"/>
          <p:nvPr/>
        </p:nvSpPr>
        <p:spPr>
          <a:xfrm>
            <a:off x="405300" y="2187725"/>
            <a:ext cx="8260500" cy="19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lang="en" sz="3000" b="0" i="0" u="none" strike="noStrike" cap="none">
                <a:solidFill>
                  <a:schemeClr val="lt1"/>
                </a:solidFill>
                <a:latin typeface="Titillium Web"/>
                <a:ea typeface="Titillium Web"/>
                <a:cs typeface="Titillium Web"/>
                <a:sym typeface="Titillium Web"/>
              </a:rPr>
              <a:t>Thank you.</a:t>
            </a:r>
            <a:endParaRPr sz="3000" b="0" i="0" u="none" strike="noStrike" cap="none">
              <a:solidFill>
                <a:schemeClr val="lt1"/>
              </a:solidFill>
              <a:latin typeface="Titillium Web"/>
              <a:ea typeface="Titillium Web"/>
              <a:cs typeface="Titillium Web"/>
              <a:sym typeface="Titillium Web"/>
            </a:endParaRPr>
          </a:p>
        </p:txBody>
      </p:sp>
      <p:pic>
        <p:nvPicPr>
          <p:cNvPr id="83" name="Google Shape;83;p13" title="0048_FIH_Logo-Whit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61755" y="203243"/>
            <a:ext cx="1371602" cy="33079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Interledger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148</Words>
  <Application>Microsoft Office PowerPoint</Application>
  <PresentationFormat>On-screen Show (16:9)</PresentationFormat>
  <Paragraphs>43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6" baseType="lpstr">
      <vt:lpstr>Titillium Web</vt:lpstr>
      <vt:lpstr>Helvetica Neue</vt:lpstr>
      <vt:lpstr>Titillium Web SemiBold</vt:lpstr>
      <vt:lpstr>Arial</vt:lpstr>
      <vt:lpstr>Titillium Web Light</vt:lpstr>
      <vt:lpstr>Libre Franklin</vt:lpstr>
      <vt:lpstr>Interledger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P0llen Jay</dc:creator>
  <cp:lastModifiedBy>VHUTALI TSANWANI</cp:lastModifiedBy>
  <cp:revision>292</cp:revision>
  <dcterms:modified xsi:type="dcterms:W3CDTF">2026-06-27T12:18:35Z</dcterms:modified>
</cp:coreProperties>
</file>